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embeddedFontLst>
    <p:embeddedFont>
      <p:font typeface="Roboto"/>
      <p:regular r:id="rId201314"/>
    </p:embeddedFont>
    <p:embeddedFont>
      <p:font typeface="Roboto Medium"/>
      <p:regular r:id="rId201315"/>
    </p:embeddedFont>
    <p:embeddedFont>
      <p:font typeface="Roboto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2C2C">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instagram.com/_sameerakhtar_22/" TargetMode="External"/><Relationship Id="rId3" Type="http://schemas.openxmlformats.org/officeDocument/2006/relationships/hyperlink" Target="https://x.com/EcomSameer" TargetMode="External"/><Relationship Id="rId4" Type="http://schemas.openxmlformats.org/officeDocument/2006/relationships/hyperlink" Target="https://www.linkedin.com/in/sameer-akhtar-388259300/" TargetMode="External"/><Relationship Id="rId1" Type="http://schemas.openxmlformats.org/officeDocument/2006/relationships/image" Target="../media/image-2-1.jpe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image" Target="../media/image-9-4.png"/><Relationship Id="rId5" Type="http://schemas.openxmlformats.org/officeDocument/2006/relationships/image" Target="../media/image-9-5.jpe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415379"/>
            <a:ext cx="8151763" cy="993428"/>
          </a:xfrm>
          <a:prstGeom prst="rect">
            <a:avLst/>
          </a:prstGeom>
          <a:noFill/>
          <a:ln/>
        </p:spPr>
        <p:txBody>
          <a:bodyPr wrap="square" lIns="0" tIns="0" rIns="0" bIns="0" rtlCol="0" anchor="t">
            <a:normAutofit/>
          </a:bodyPr>
          <a:lstStyle/>
          <a:p>
            <a:pPr algn="l" indent="0" marL="0">
              <a:lnSpc>
                <a:spcPct val="104000"/>
              </a:lnSpc>
              <a:buNone/>
            </a:pPr>
            <a:r>
              <a:rPr lang="en-US" sz="3100" dirty="0">
                <a:solidFill>
                  <a:srgbClr val="FFFFFF"/>
                </a:solidFill>
                <a:latin typeface="Roboto Medium" pitchFamily="34" charset="0"/>
                <a:ea typeface="Roboto Medium" pitchFamily="34" charset="-122"/>
                <a:cs typeface="Roboto Medium" pitchFamily="34" charset="-120"/>
              </a:rPr>
              <a:t>HOW I HELPED A BRAND GENERATE  OVER </a:t>
            </a:r>
            <a:pPr algn="l" indent="0" marL="0">
              <a:lnSpc>
                <a:spcPct val="104000"/>
              </a:lnSpc>
              <a:buNone/>
            </a:pPr>
            <a:r>
              <a:rPr lang="en-US" sz="3100" dirty="0">
                <a:solidFill>
                  <a:srgbClr val="5A6ED8"/>
                </a:solidFill>
                <a:latin typeface="Roboto Medium" pitchFamily="34" charset="0"/>
                <a:ea typeface="Roboto Medium" pitchFamily="34" charset="-122"/>
                <a:cs typeface="Roboto Medium" pitchFamily="34" charset="-120"/>
              </a:rPr>
              <a:t>€3,14,060.12 IN JUST 42 DAYS</a:t>
            </a:r>
            <a:endParaRPr lang="en-US" sz="3100" dirty="0"/>
          </a:p>
        </p:txBody>
      </p:sp>
      <p:pic>
        <p:nvPicPr>
          <p:cNvPr id="3" name="Image 0" descr="preencoded.png">    </p:cNvPr>
          <p:cNvPicPr>
            <a:picLocks noChangeAspect="1"/>
          </p:cNvPicPr>
          <p:nvPr/>
        </p:nvPicPr>
        <p:blipFill>
          <a:blip r:embed="rId1"/>
          <a:stretch>
            <a:fillRect/>
          </a:stretch>
        </p:blipFill>
        <p:spPr>
          <a:xfrm>
            <a:off x="496119" y="1595958"/>
            <a:ext cx="5336902" cy="31321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410468"/>
            <a:ext cx="8151763" cy="325338"/>
          </a:xfrm>
          <a:prstGeom prst="rect">
            <a:avLst/>
          </a:prstGeom>
          <a:noFill/>
          <a:ln/>
        </p:spPr>
        <p:txBody>
          <a:bodyPr wrap="none" lIns="0" tIns="0" rIns="0" bIns="0" rtlCol="0" anchor="t"/>
          <a:lstStyle/>
          <a:p>
            <a:pPr algn="l" indent="0" marL="0">
              <a:lnSpc>
                <a:spcPct val="104000"/>
              </a:lnSpc>
              <a:buNone/>
            </a:pPr>
            <a:r>
              <a:rPr lang="en-US" sz="2000" dirty="0">
                <a:solidFill>
                  <a:srgbClr val="FFFFFF"/>
                </a:solidFill>
                <a:latin typeface="Roboto Medium" pitchFamily="34" charset="0"/>
                <a:ea typeface="Roboto Medium" pitchFamily="34" charset="-122"/>
                <a:cs typeface="Roboto Medium" pitchFamily="34" charset="-120"/>
              </a:rPr>
              <a:t>WHY YOU SHOULD LISTEN TO ME? </a:t>
            </a:r>
            <a:endParaRPr lang="en-US" sz="2000" dirty="0"/>
          </a:p>
        </p:txBody>
      </p:sp>
      <p:pic>
        <p:nvPicPr>
          <p:cNvPr id="3" name="Image 0" descr="preencoded.png">    </p:cNvPr>
          <p:cNvPicPr>
            <a:picLocks noChangeAspect="1"/>
          </p:cNvPicPr>
          <p:nvPr/>
        </p:nvPicPr>
        <p:blipFill>
          <a:blip r:embed="rId1"/>
          <a:stretch>
            <a:fillRect/>
          </a:stretch>
        </p:blipFill>
        <p:spPr>
          <a:xfrm>
            <a:off x="496119" y="936427"/>
            <a:ext cx="2713360" cy="2713360"/>
          </a:xfrm>
          <a:prstGeom prst="rect">
            <a:avLst/>
          </a:prstGeom>
        </p:spPr>
      </p:pic>
      <p:sp>
        <p:nvSpPr>
          <p:cNvPr id="4" name="Text 1"/>
          <p:cNvSpPr/>
          <p:nvPr/>
        </p:nvSpPr>
        <p:spPr>
          <a:xfrm>
            <a:off x="4535537" y="919237"/>
            <a:ext cx="4117032" cy="722188"/>
          </a:xfrm>
          <a:prstGeom prst="rect">
            <a:avLst/>
          </a:prstGeom>
          <a:noFill/>
          <a:ln/>
        </p:spPr>
        <p:txBody>
          <a:bodyPr wrap="square" lIns="0" tIns="0" rIns="0" bIns="0" rtlCol="0" anchor="t">
            <a:normAutofit/>
          </a:bodyPr>
          <a:lstStyle/>
          <a:p>
            <a:pPr algn="l" indent="0" marL="0">
              <a:lnSpc>
                <a:spcPct val="116000"/>
              </a:lnSpc>
              <a:buNone/>
            </a:pPr>
            <a:r>
              <a:rPr lang="en-US" sz="800" b="1" dirty="0">
                <a:solidFill>
                  <a:srgbClr val="CFD0D8"/>
                </a:solidFill>
                <a:latin typeface="Roboto Bold" pitchFamily="34" charset="0"/>
                <a:ea typeface="Roboto Bold" pitchFamily="34" charset="-122"/>
                <a:cs typeface="Roboto Bold" pitchFamily="34" charset="-120"/>
              </a:rPr>
              <a:t>Hey, I'm Sameer. My Clients call me Sam haha</a:t>
            </a:r>
            <a:pPr algn="l" indent="0" marL="0">
              <a:lnSpc>
                <a:spcPct val="116000"/>
              </a:lnSpc>
              <a:buNone/>
            </a:pPr>
            <a:r>
              <a:rPr lang="en-US" sz="800" dirty="0">
                <a:solidFill>
                  <a:srgbClr val="CFD0D8"/>
                </a:solidFill>
                <a:latin typeface="Roboto" pitchFamily="34" charset="0"/>
                <a:ea typeface="Roboto" pitchFamily="34" charset="-122"/>
                <a:cs typeface="Roboto" pitchFamily="34" charset="-120"/>
              </a:rPr>
              <a:t>. </a:t>
            </a:r>
            <a:pPr algn="l" indent="0" marL="0">
              <a:lnSpc>
                <a:spcPct val="116000"/>
              </a:lnSpc>
              <a:buNone/>
            </a:pPr>
            <a:r>
              <a:rPr lang="en-US" sz="800" b="1" dirty="0">
                <a:solidFill>
                  <a:srgbClr val="CFD0D8"/>
                </a:solidFill>
                <a:latin typeface="Roboto Bold" pitchFamily="34" charset="0"/>
                <a:ea typeface="Roboto Bold" pitchFamily="34" charset="-122"/>
                <a:cs typeface="Roboto Bold" pitchFamily="34" charset="-120"/>
              </a:rPr>
              <a:t>I'm the founder and CEO of Bad Retention</a:t>
            </a:r>
            <a:pPr algn="l" indent="0" marL="0">
              <a:lnSpc>
                <a:spcPct val="116000"/>
              </a:lnSpc>
              <a:buNone/>
            </a:pPr>
            <a:r>
              <a:rPr lang="en-US" sz="800" dirty="0">
                <a:solidFill>
                  <a:srgbClr val="CFD0D8"/>
                </a:solidFill>
                <a:latin typeface="Roboto" pitchFamily="34" charset="0"/>
                <a:ea typeface="Roboto" pitchFamily="34" charset="-122"/>
                <a:cs typeface="Roboto" pitchFamily="34" charset="-120"/>
              </a:rPr>
              <a:t>. </a:t>
            </a:r>
            <a:pPr algn="l" indent="0" marL="0">
              <a:lnSpc>
                <a:spcPct val="116000"/>
              </a:lnSpc>
              <a:buNone/>
            </a:pPr>
            <a:r>
              <a:rPr lang="en-US" sz="800" b="1" dirty="0">
                <a:solidFill>
                  <a:srgbClr val="CFD0D8"/>
                </a:solidFill>
                <a:latin typeface="Roboto Bold" pitchFamily="34" charset="0"/>
                <a:ea typeface="Roboto Bold" pitchFamily="34" charset="-122"/>
                <a:cs typeface="Roboto Bold" pitchFamily="34" charset="-120"/>
              </a:rPr>
              <a:t>We're building Nepal's first premium Retention Marketing agency for 8-9 figure Ecom stores</a:t>
            </a:r>
            <a:pPr algn="l" indent="0" marL="0">
              <a:lnSpc>
                <a:spcPct val="116000"/>
              </a:lnSpc>
              <a:buNone/>
            </a:pPr>
            <a:r>
              <a:rPr lang="en-US" sz="800" dirty="0">
                <a:solidFill>
                  <a:srgbClr val="CFD0D8"/>
                </a:solidFill>
                <a:latin typeface="Roboto" pitchFamily="34" charset="0"/>
                <a:ea typeface="Roboto" pitchFamily="34" charset="-122"/>
                <a:cs typeface="Roboto" pitchFamily="34" charset="-120"/>
              </a:rPr>
              <a:t> </a:t>
            </a:r>
            <a:pPr algn="l" indent="0" marL="0">
              <a:lnSpc>
                <a:spcPct val="116000"/>
              </a:lnSpc>
              <a:buNone/>
            </a:pPr>
            <a:r>
              <a:rPr lang="en-US" sz="800" b="1" dirty="0">
                <a:solidFill>
                  <a:srgbClr val="CFD0D8"/>
                </a:solidFill>
                <a:latin typeface="Roboto Bold" pitchFamily="34" charset="0"/>
                <a:ea typeface="Roboto Bold" pitchFamily="34" charset="-122"/>
                <a:cs typeface="Roboto Bold" pitchFamily="34" charset="-120"/>
              </a:rPr>
              <a:t>in the beauty, health, supplement and fashion niche. My agency has generated over $800k in atrributed email revenue in the past 90 days for our partner brands.</a:t>
            </a:r>
            <a:endParaRPr lang="en-US" sz="800" dirty="0"/>
          </a:p>
        </p:txBody>
      </p:sp>
      <p:sp>
        <p:nvSpPr>
          <p:cNvPr id="5" name="Text 2"/>
          <p:cNvSpPr/>
          <p:nvPr/>
        </p:nvSpPr>
        <p:spPr>
          <a:xfrm>
            <a:off x="496119" y="3850407"/>
            <a:ext cx="8151763" cy="162669"/>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Roboto Medium" pitchFamily="34" charset="0"/>
                <a:ea typeface="Roboto Medium" pitchFamily="34" charset="-122"/>
                <a:cs typeface="Roboto Medium" pitchFamily="34" charset="-120"/>
              </a:rPr>
              <a:t>Find me here</a:t>
            </a:r>
            <a:endParaRPr lang="en-US" sz="1000" dirty="0"/>
          </a:p>
        </p:txBody>
      </p:sp>
      <p:sp>
        <p:nvSpPr>
          <p:cNvPr id="6" name="Text 3"/>
          <p:cNvSpPr/>
          <p:nvPr/>
        </p:nvSpPr>
        <p:spPr>
          <a:xfrm>
            <a:off x="496119" y="4127748"/>
            <a:ext cx="8151763" cy="605210"/>
          </a:xfrm>
          <a:prstGeom prst="rect">
            <a:avLst/>
          </a:prstGeom>
          <a:noFill/>
          <a:ln/>
        </p:spPr>
        <p:txBody>
          <a:bodyPr wrap="square" lIns="0" tIns="0" rIns="0" bIns="0" rtlCol="0" anchor="t"/>
          <a:lstStyle/>
          <a:p>
            <a:pPr algn="l" indent="0" marL="0">
              <a:lnSpc>
                <a:spcPct val="116000"/>
              </a:lnSpc>
              <a:spcAft>
                <a:spcPts val="650"/>
              </a:spcAft>
              <a:buNone/>
            </a:pPr>
            <a:r>
              <a:rPr lang="en-US" sz="800" dirty="0">
                <a:solidFill>
                  <a:srgbClr val="CFD0D8"/>
                </a:solidFill>
                <a:latin typeface="Roboto" pitchFamily="34" charset="0"/>
                <a:ea typeface="Roboto" pitchFamily="34" charset="-122"/>
                <a:cs typeface="Roboto" pitchFamily="34" charset="-120"/>
              </a:rPr>
              <a:t>Instagram: </a:t>
            </a:r>
            <a:pPr algn="l" indent="0" marL="0">
              <a:lnSpc>
                <a:spcPct val="116000"/>
              </a:lnSpc>
              <a:spcAft>
                <a:spcPts val="650"/>
              </a:spcAft>
              <a:buNone/>
            </a:pPr>
            <a:r>
              <a:rPr lang="en-US" sz="800" b="1" u="sng" dirty="0">
                <a:solidFill>
                  <a:srgbClr val="5A6ED8"/>
                </a:solidFill>
                <a:latin typeface="Roboto Bold" pitchFamily="34" charset="0"/>
                <a:ea typeface="Roboto Bold" pitchFamily="34" charset="-122"/>
                <a:cs typeface="Roboto 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https://www.instagram.com/_sameerakhtar_22/</a:t>
            </a:r>
            <a:endParaRPr lang="en-US" sz="800" dirty="0"/>
          </a:p>
          <a:p>
            <a:pPr algn="l" indent="0" marL="0">
              <a:lnSpc>
                <a:spcPct val="116000"/>
              </a:lnSpc>
              <a:spcAft>
                <a:spcPts val="650"/>
              </a:spcAft>
              <a:buNone/>
            </a:pPr>
            <a:r>
              <a:rPr lang="en-US" sz="800" dirty="0">
                <a:solidFill>
                  <a:srgbClr val="CFD0D8"/>
                </a:solidFill>
                <a:latin typeface="Roboto" pitchFamily="34" charset="0"/>
                <a:ea typeface="Roboto" pitchFamily="34" charset="-122"/>
                <a:cs typeface="Roboto" pitchFamily="34" charset="-120"/>
              </a:rPr>
              <a:t>Twitter: </a:t>
            </a:r>
            <a:pPr algn="l" indent="0" marL="0">
              <a:lnSpc>
                <a:spcPct val="116000"/>
              </a:lnSpc>
              <a:spcAft>
                <a:spcPts val="650"/>
              </a:spcAft>
              <a:buNone/>
            </a:pPr>
            <a:r>
              <a:rPr lang="en-US" sz="800" b="1" u="sng" dirty="0">
                <a:solidFill>
                  <a:srgbClr val="5A6ED8"/>
                </a:solidFill>
                <a:latin typeface="Roboto Bold" pitchFamily="34" charset="0"/>
                <a:ea typeface="Roboto Bold" pitchFamily="34" charset="-122"/>
                <a:cs typeface="Roboto Bold"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https://x.com/EcomSameer</a:t>
            </a:r>
            <a:endParaRPr lang="en-US" sz="800" dirty="0"/>
          </a:p>
          <a:p>
            <a:pPr algn="l" indent="0" marL="0">
              <a:lnSpc>
                <a:spcPct val="116000"/>
              </a:lnSpc>
              <a:buNone/>
            </a:pPr>
            <a:r>
              <a:rPr lang="en-US" sz="800" dirty="0">
                <a:solidFill>
                  <a:srgbClr val="CFD0D8"/>
                </a:solidFill>
                <a:latin typeface="Roboto" pitchFamily="34" charset="0"/>
                <a:ea typeface="Roboto" pitchFamily="34" charset="-122"/>
                <a:cs typeface="Roboto" pitchFamily="34" charset="-120"/>
              </a:rPr>
              <a:t>LinkedIn: </a:t>
            </a:r>
            <a:pPr algn="l" indent="0" marL="0">
              <a:lnSpc>
                <a:spcPct val="116000"/>
              </a:lnSpc>
              <a:buNone/>
            </a:pPr>
            <a:r>
              <a:rPr lang="en-US" sz="800" b="1" u="sng" dirty="0">
                <a:solidFill>
                  <a:srgbClr val="5A6ED8"/>
                </a:solidFill>
                <a:latin typeface="Roboto Bold" pitchFamily="34" charset="0"/>
                <a:ea typeface="Roboto Bold" pitchFamily="34" charset="-122"/>
                <a:cs typeface="Roboto Bold"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https://www.linkedin.com/in/sameer-akhtar-388259300/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990228"/>
            <a:ext cx="8151763" cy="611386"/>
          </a:xfrm>
          <a:prstGeom prst="rect">
            <a:avLst/>
          </a:prstGeom>
          <a:noFill/>
          <a:ln/>
        </p:spPr>
        <p:txBody>
          <a:bodyPr wrap="none" lIns="0" tIns="0" rIns="0" bIns="0" rtlCol="0" anchor="t"/>
          <a:lstStyle/>
          <a:p>
            <a:pPr algn="l" indent="0" marL="0">
              <a:lnSpc>
                <a:spcPct val="104000"/>
              </a:lnSpc>
              <a:buNone/>
            </a:pPr>
            <a:r>
              <a:rPr lang="en-US" sz="3850" dirty="0">
                <a:solidFill>
                  <a:srgbClr val="FF2C2C"/>
                </a:solidFill>
                <a:latin typeface="Roboto Medium" pitchFamily="34" charset="0"/>
                <a:ea typeface="Roboto Medium" pitchFamily="34" charset="-122"/>
                <a:cs typeface="Roboto Medium" pitchFamily="34" charset="-120"/>
              </a:rPr>
              <a:t>CASE BACKGROUND</a:t>
            </a:r>
            <a:endParaRPr lang="en-US" sz="3850" dirty="0"/>
          </a:p>
        </p:txBody>
      </p:sp>
      <p:sp>
        <p:nvSpPr>
          <p:cNvPr id="3" name="Text 1"/>
          <p:cNvSpPr/>
          <p:nvPr/>
        </p:nvSpPr>
        <p:spPr>
          <a:xfrm>
            <a:off x="496119" y="1885131"/>
            <a:ext cx="8151763" cy="2268141"/>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CFD0D8"/>
                </a:solidFill>
                <a:latin typeface="Roboto" pitchFamily="34" charset="0"/>
                <a:ea typeface="Roboto" pitchFamily="34" charset="-122"/>
                <a:cs typeface="Roboto" pitchFamily="34" charset="-120"/>
              </a:rPr>
              <a:t>This is a 8 figure brand. They have over 100k email list, they were looking for someone who can get the most out of that list and we eventually met them at the right time. </a:t>
            </a:r>
            <a:endParaRPr lang="en-US" sz="1100" dirty="0"/>
          </a:p>
          <a:p>
            <a:pPr algn="l" indent="0" marL="0">
              <a:lnSpc>
                <a:spcPct val="133000"/>
              </a:lnSpc>
              <a:buNone/>
            </a:pPr>
            <a:r>
              <a:rPr lang="en-US" sz="1100" dirty="0">
                <a:solidFill>
                  <a:srgbClr val="CFD0D8"/>
                </a:solidFill>
                <a:latin typeface="Roboto" pitchFamily="34" charset="0"/>
                <a:ea typeface="Roboto" pitchFamily="34" charset="-122"/>
                <a:cs typeface="Roboto" pitchFamily="34" charset="-120"/>
              </a:rPr>
              <a:t>Tbh they were doing 100K EVERY DAY in Black friday. Their Top of the funnel was dialed in. They were doing decent sending emails internally but they knew they can do alot better, And we came in. </a:t>
            </a:r>
            <a:endParaRPr lang="en-US" sz="1100" dirty="0"/>
          </a:p>
          <a:p>
            <a:pPr algn="l" indent="0" marL="0">
              <a:lnSpc>
                <a:spcPct val="133000"/>
              </a:lnSpc>
              <a:buNone/>
            </a:pPr>
            <a:r>
              <a:rPr lang="en-US" sz="1100" dirty="0">
                <a:solidFill>
                  <a:srgbClr val="CFD0D8"/>
                </a:solidFill>
                <a:latin typeface="Roboto" pitchFamily="34" charset="0"/>
                <a:ea typeface="Roboto" pitchFamily="34" charset="-122"/>
                <a:cs typeface="Roboto" pitchFamily="34" charset="-120"/>
              </a:rPr>
              <a:t>Generally the sales starts to get low post black friday. They were also blasting email to the whole list which is 100k people every time they hit send which was a bad practice. </a:t>
            </a:r>
            <a:endParaRPr lang="en-US" sz="1100" dirty="0"/>
          </a:p>
          <a:p>
            <a:pPr algn="l" indent="0" marL="0">
              <a:lnSpc>
                <a:spcPct val="133000"/>
              </a:lnSpc>
              <a:buNone/>
            </a:pPr>
            <a:r>
              <a:rPr lang="en-US" sz="1100" dirty="0">
                <a:solidFill>
                  <a:srgbClr val="CFD0D8"/>
                </a:solidFill>
                <a:latin typeface="Roboto" pitchFamily="34" charset="0"/>
                <a:ea typeface="Roboto" pitchFamily="34" charset="-122"/>
                <a:cs typeface="Roboto" pitchFamily="34" charset="-120"/>
              </a:rPr>
              <a:t>It was getting hard for them to perform good post black friday. Their design was generic and bad deliverability. And WE CAME IN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2350219"/>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FFFFFF"/>
                </a:solidFill>
                <a:latin typeface="Roboto Medium" pitchFamily="34" charset="0"/>
                <a:ea typeface="Roboto Medium" pitchFamily="34" charset="-122"/>
                <a:cs typeface="Roboto Medium" pitchFamily="34" charset="-120"/>
              </a:rPr>
              <a:t>HERE'S WHAT WE DID!!!</a:t>
            </a:r>
            <a:endParaRPr lang="en-US" sz="2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96553"/>
            <a:ext cx="8151763" cy="228451"/>
          </a:xfrm>
          <a:prstGeom prst="rect">
            <a:avLst/>
          </a:prstGeom>
          <a:noFill/>
          <a:ln/>
        </p:spPr>
        <p:txBody>
          <a:bodyPr wrap="none" lIns="0" tIns="0" rIns="0" bIns="0" rtlCol="0" anchor="t"/>
          <a:lstStyle/>
          <a:p>
            <a:pPr algn="l" indent="0" marL="0">
              <a:lnSpc>
                <a:spcPct val="104000"/>
              </a:lnSpc>
              <a:buNone/>
            </a:pPr>
            <a:r>
              <a:rPr lang="en-US" sz="1400" dirty="0">
                <a:solidFill>
                  <a:srgbClr val="FF2C2C"/>
                </a:solidFill>
                <a:latin typeface="Roboto Medium" pitchFamily="34" charset="0"/>
                <a:ea typeface="Roboto Medium" pitchFamily="34" charset="-122"/>
                <a:cs typeface="Roboto Medium" pitchFamily="34" charset="-120"/>
              </a:rPr>
              <a:t>1. DELIVERABILITY</a:t>
            </a:r>
            <a:endParaRPr lang="en-US" sz="1400" dirty="0"/>
          </a:p>
        </p:txBody>
      </p:sp>
      <p:sp>
        <p:nvSpPr>
          <p:cNvPr id="3" name="Text 1"/>
          <p:cNvSpPr/>
          <p:nvPr/>
        </p:nvSpPr>
        <p:spPr>
          <a:xfrm>
            <a:off x="496119" y="700385"/>
            <a:ext cx="8151763" cy="442764"/>
          </a:xfrm>
          <a:prstGeom prst="rect">
            <a:avLst/>
          </a:prstGeom>
          <a:noFill/>
          <a:ln/>
        </p:spPr>
        <p:txBody>
          <a:bodyPr wrap="square" lIns="0" tIns="0" rIns="0" bIns="0" rtlCol="0" anchor="t">
            <a:normAutofit/>
          </a:bodyPr>
          <a:lstStyle/>
          <a:p>
            <a:pPr algn="l" indent="0" marL="0">
              <a:lnSpc>
                <a:spcPct val="101000"/>
              </a:lnSpc>
              <a:buNone/>
            </a:pPr>
            <a:r>
              <a:rPr lang="en-US" sz="550" dirty="0">
                <a:solidFill>
                  <a:srgbClr val="CFD0D8"/>
                </a:solidFill>
                <a:latin typeface="Roboto" pitchFamily="34" charset="0"/>
                <a:ea typeface="Roboto" pitchFamily="34" charset="-122"/>
                <a:cs typeface="Roboto" pitchFamily="34" charset="-120"/>
              </a:rPr>
              <a:t>Focuses on deliverability. After the bump of black friday emails, emails generally get ignored. So we built a segment that excludes all the people:</a:t>
            </a:r>
            <a:endParaRPr lang="en-US" sz="550" dirty="0"/>
          </a:p>
          <a:p>
            <a:pPr algn="l" indent="0" marL="0">
              <a:lnSpc>
                <a:spcPct val="101000"/>
              </a:lnSpc>
              <a:buNone/>
            </a:pPr>
            <a:r>
              <a:rPr lang="en-US" sz="550" dirty="0">
                <a:solidFill>
                  <a:srgbClr val="CFD0D8"/>
                </a:solidFill>
                <a:latin typeface="Roboto" pitchFamily="34" charset="0"/>
                <a:ea typeface="Roboto" pitchFamily="34" charset="-122"/>
                <a:cs typeface="Roboto" pitchFamily="34" charset="-120"/>
              </a:rPr>
              <a:t>- who have never opened our emails</a:t>
            </a:r>
            <a:endParaRPr lang="en-US" sz="550" dirty="0"/>
          </a:p>
          <a:p>
            <a:pPr algn="l" indent="0" marL="0">
              <a:lnSpc>
                <a:spcPct val="101000"/>
              </a:lnSpc>
              <a:buNone/>
            </a:pPr>
            <a:r>
              <a:rPr lang="en-US" sz="550" dirty="0">
                <a:solidFill>
                  <a:srgbClr val="CFD0D8"/>
                </a:solidFill>
                <a:latin typeface="Roboto" pitchFamily="34" charset="0"/>
                <a:ea typeface="Roboto" pitchFamily="34" charset="-122"/>
                <a:cs typeface="Roboto" pitchFamily="34" charset="-120"/>
              </a:rPr>
              <a:t>- All emails which have bounced</a:t>
            </a:r>
            <a:endParaRPr lang="en-US" sz="550" dirty="0"/>
          </a:p>
          <a:p>
            <a:pPr algn="l" indent="0" marL="0">
              <a:lnSpc>
                <a:spcPct val="101000"/>
              </a:lnSpc>
              <a:buNone/>
            </a:pPr>
            <a:r>
              <a:rPr lang="en-US" sz="550" dirty="0">
                <a:solidFill>
                  <a:srgbClr val="CFD0D8"/>
                </a:solidFill>
                <a:latin typeface="Roboto" pitchFamily="34" charset="0"/>
                <a:ea typeface="Roboto" pitchFamily="34" charset="-122"/>
                <a:cs typeface="Roboto" pitchFamily="34" charset="-120"/>
              </a:rPr>
              <a:t>- Never engaged with our store in a long time</a:t>
            </a:r>
            <a:endParaRPr lang="en-US" sz="550" dirty="0"/>
          </a:p>
        </p:txBody>
      </p:sp>
      <p:sp>
        <p:nvSpPr>
          <p:cNvPr id="4" name="Text 2"/>
          <p:cNvSpPr/>
          <p:nvPr/>
        </p:nvSpPr>
        <p:spPr>
          <a:xfrm>
            <a:off x="496119" y="1185490"/>
            <a:ext cx="8608963" cy="88553"/>
          </a:xfrm>
          <a:prstGeom prst="rect">
            <a:avLst/>
          </a:prstGeom>
          <a:noFill/>
          <a:ln/>
        </p:spPr>
        <p:txBody>
          <a:bodyPr wrap="none" lIns="0" tIns="0" rIns="0" bIns="0" rtlCol="0" anchor="t"/>
          <a:lstStyle/>
          <a:p>
            <a:pPr algn="l" indent="0" marL="0">
              <a:lnSpc>
                <a:spcPct val="101000"/>
              </a:lnSpc>
              <a:buNone/>
            </a:pPr>
            <a:r>
              <a:rPr lang="en-US" sz="550" dirty="0">
                <a:solidFill>
                  <a:srgbClr val="CFD0D8"/>
                </a:solidFill>
                <a:latin typeface="Roboto" pitchFamily="34" charset="0"/>
                <a:ea typeface="Roboto" pitchFamily="34" charset="-122"/>
                <a:cs typeface="Roboto" pitchFamily="34" charset="-120"/>
              </a:rPr>
              <a:t>Highest open rates and the second highest revenue per campaign from this email</a:t>
            </a:r>
            <a:endParaRPr lang="en-US" sz="550" dirty="0"/>
          </a:p>
        </p:txBody>
      </p:sp>
      <p:pic>
        <p:nvPicPr>
          <p:cNvPr id="5" name="Image 0" descr="preencoded.png">    </p:cNvPr>
          <p:cNvPicPr>
            <a:picLocks noChangeAspect="1"/>
          </p:cNvPicPr>
          <p:nvPr/>
        </p:nvPicPr>
        <p:blipFill>
          <a:blip r:embed="rId1"/>
          <a:stretch>
            <a:fillRect/>
          </a:stretch>
        </p:blipFill>
        <p:spPr>
          <a:xfrm>
            <a:off x="496119" y="1316385"/>
            <a:ext cx="3386882" cy="3299668"/>
          </a:xfrm>
          <a:prstGeom prst="rect">
            <a:avLst/>
          </a:prstGeom>
        </p:spPr>
      </p:pic>
      <p:sp>
        <p:nvSpPr>
          <p:cNvPr id="6" name="Text 3"/>
          <p:cNvSpPr/>
          <p:nvPr/>
        </p:nvSpPr>
        <p:spPr>
          <a:xfrm>
            <a:off x="496119" y="4658395"/>
            <a:ext cx="8608963" cy="88553"/>
          </a:xfrm>
          <a:prstGeom prst="rect">
            <a:avLst/>
          </a:prstGeom>
          <a:noFill/>
          <a:ln/>
        </p:spPr>
        <p:txBody>
          <a:bodyPr wrap="none" lIns="0" tIns="0" rIns="0" bIns="0" rtlCol="0" anchor="t"/>
          <a:lstStyle/>
          <a:p>
            <a:pPr algn="l" indent="0" marL="0">
              <a:lnSpc>
                <a:spcPct val="101000"/>
              </a:lnSpc>
              <a:buNone/>
            </a:pPr>
            <a:r>
              <a:rPr lang="en-US" sz="550" dirty="0">
                <a:solidFill>
                  <a:srgbClr val="CFD0D8"/>
                </a:solidFill>
                <a:latin typeface="Roboto" pitchFamily="34" charset="0"/>
                <a:ea typeface="Roboto" pitchFamily="34" charset="-122"/>
                <a:cs typeface="Roboto" pitchFamily="34" charset="-120"/>
              </a:rPr>
              <a:t>TOOK THE OPEN RATES FROM 40% TO 65%. MORE OPENS = MORE REVENUE.</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dirty="0">
                <a:solidFill>
                  <a:srgbClr val="FF2C2C"/>
                </a:solidFill>
                <a:latin typeface="Roboto Medium" pitchFamily="34" charset="0"/>
                <a:ea typeface="Roboto Medium" pitchFamily="34" charset="-122"/>
                <a:cs typeface="Roboto Medium" pitchFamily="34" charset="-120"/>
              </a:rPr>
              <a:t>2. CAMPAIGN PERFORMANCE</a:t>
            </a:r>
            <a:endParaRPr lang="en-US" sz="1350" dirty="0"/>
          </a:p>
        </p:txBody>
      </p:sp>
      <p:sp>
        <p:nvSpPr>
          <p:cNvPr id="3" name="Text 1"/>
          <p:cNvSpPr/>
          <p:nvPr/>
        </p:nvSpPr>
        <p:spPr>
          <a:xfrm>
            <a:off x="496119" y="682154"/>
            <a:ext cx="8151763" cy="340221"/>
          </a:xfrm>
          <a:prstGeom prst="rect">
            <a:avLst/>
          </a:prstGeom>
          <a:noFill/>
          <a:ln/>
        </p:spPr>
        <p:txBody>
          <a:bodyPr wrap="square" lIns="0" tIns="0" rIns="0" bIns="0" rtlCol="0" anchor="t">
            <a:normAutofit/>
          </a:bodyPr>
          <a:lstStyle/>
          <a:p>
            <a:pPr algn="l" indent="0" marL="0">
              <a:lnSpc>
                <a:spcPct val="100000"/>
              </a:lnSpc>
              <a:buNone/>
            </a:pPr>
            <a:r>
              <a:rPr lang="en-US" sz="550" dirty="0">
                <a:solidFill>
                  <a:srgbClr val="CFD0D8"/>
                </a:solidFill>
                <a:latin typeface="Roboto" pitchFamily="34" charset="0"/>
                <a:ea typeface="Roboto" pitchFamily="34" charset="-122"/>
                <a:cs typeface="Roboto" pitchFamily="34" charset="-120"/>
              </a:rPr>
              <a:t>Campaigns were sent very strategically. It includes promo email such as upto 50% off on best sellers. We were using bunch of different angles. Also New drops targeting various angles that their audience were reasonating with the message. Targeted and relevant messge always prints.</a:t>
            </a:r>
            <a:endParaRPr lang="en-US" sz="550" dirty="0"/>
          </a:p>
          <a:p>
            <a:pPr algn="l" indent="0" marL="0">
              <a:lnSpc>
                <a:spcPct val="100000"/>
              </a:lnSpc>
              <a:buNone/>
            </a:pPr>
            <a:r>
              <a:rPr lang="en-US" sz="550" dirty="0">
                <a:solidFill>
                  <a:srgbClr val="CFD0D8"/>
                </a:solidFill>
                <a:latin typeface="Roboto" pitchFamily="34" charset="0"/>
                <a:ea typeface="Roboto" pitchFamily="34" charset="-122"/>
                <a:cs typeface="Roboto" pitchFamily="34" charset="-120"/>
              </a:rPr>
              <a:t>Highest revenue from a single email is €20k and it's from New year. A great way to start the New year. Umahhhhhh</a:t>
            </a:r>
            <a:endParaRPr lang="en-US" sz="550" dirty="0"/>
          </a:p>
        </p:txBody>
      </p:sp>
      <p:pic>
        <p:nvPicPr>
          <p:cNvPr id="4" name="Image 0" descr="preencoded.png">    </p:cNvPr>
          <p:cNvPicPr>
            <a:picLocks noChangeAspect="1"/>
          </p:cNvPicPr>
          <p:nvPr/>
        </p:nvPicPr>
        <p:blipFill>
          <a:blip r:embed="rId1"/>
          <a:stretch>
            <a:fillRect/>
          </a:stretch>
        </p:blipFill>
        <p:spPr>
          <a:xfrm>
            <a:off x="496119" y="1062186"/>
            <a:ext cx="2890465" cy="553566"/>
          </a:xfrm>
          <a:prstGeom prst="rect">
            <a:avLst/>
          </a:prstGeom>
        </p:spPr>
      </p:pic>
      <p:sp>
        <p:nvSpPr>
          <p:cNvPr id="5" name="Text 2"/>
          <p:cNvSpPr/>
          <p:nvPr/>
        </p:nvSpPr>
        <p:spPr>
          <a:xfrm>
            <a:off x="496119" y="1655564"/>
            <a:ext cx="8608963" cy="85055"/>
          </a:xfrm>
          <a:prstGeom prst="rect">
            <a:avLst/>
          </a:prstGeom>
          <a:noFill/>
          <a:ln/>
        </p:spPr>
        <p:txBody>
          <a:bodyPr wrap="none" lIns="0" tIns="0" rIns="0" bIns="0" rtlCol="0" anchor="t"/>
          <a:lstStyle/>
          <a:p>
            <a:pPr algn="l" indent="0" marL="0">
              <a:lnSpc>
                <a:spcPct val="100000"/>
              </a:lnSpc>
              <a:buNone/>
            </a:pPr>
            <a:r>
              <a:rPr lang="en-US" sz="550" dirty="0">
                <a:solidFill>
                  <a:srgbClr val="CFD0D8"/>
                </a:solidFill>
                <a:latin typeface="Roboto" pitchFamily="34" charset="0"/>
                <a:ea typeface="Roboto" pitchFamily="34" charset="-122"/>
                <a:cs typeface="Roboto" pitchFamily="34" charset="-120"/>
              </a:rPr>
              <a:t>Typical campaign performances</a:t>
            </a:r>
            <a:endParaRPr lang="en-US" sz="550" dirty="0"/>
          </a:p>
        </p:txBody>
      </p:sp>
      <p:pic>
        <p:nvPicPr>
          <p:cNvPr id="6" name="Image 1" descr="preencoded.png">    </p:cNvPr>
          <p:cNvPicPr>
            <a:picLocks noChangeAspect="1"/>
          </p:cNvPicPr>
          <p:nvPr/>
        </p:nvPicPr>
        <p:blipFill>
          <a:blip r:embed="rId2"/>
          <a:stretch>
            <a:fillRect/>
          </a:stretch>
        </p:blipFill>
        <p:spPr>
          <a:xfrm>
            <a:off x="496119" y="1780431"/>
            <a:ext cx="3284265" cy="30272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01836"/>
            <a:ext cx="8151763" cy="346100"/>
          </a:xfrm>
          <a:prstGeom prst="rect">
            <a:avLst/>
          </a:prstGeom>
          <a:noFill/>
          <a:ln/>
        </p:spPr>
        <p:txBody>
          <a:bodyPr wrap="none" lIns="0" tIns="0" rIns="0" bIns="0" rtlCol="0" anchor="t"/>
          <a:lstStyle/>
          <a:p>
            <a:pPr algn="l" indent="0" marL="0">
              <a:lnSpc>
                <a:spcPct val="104000"/>
              </a:lnSpc>
              <a:buNone/>
            </a:pPr>
            <a:r>
              <a:rPr lang="en-US" sz="2150" dirty="0">
                <a:solidFill>
                  <a:srgbClr val="FF2C2C"/>
                </a:solidFill>
                <a:latin typeface="Roboto Medium" pitchFamily="34" charset="0"/>
                <a:ea typeface="Roboto Medium" pitchFamily="34" charset="-122"/>
                <a:cs typeface="Roboto Medium" pitchFamily="34" charset="-120"/>
              </a:rPr>
              <a:t>3. FLOWS PERFORMANCE</a:t>
            </a:r>
            <a:endParaRPr lang="en-US" sz="2150" dirty="0"/>
          </a:p>
        </p:txBody>
      </p:sp>
      <p:sp>
        <p:nvSpPr>
          <p:cNvPr id="3" name="Text 1"/>
          <p:cNvSpPr/>
          <p:nvPr/>
        </p:nvSpPr>
        <p:spPr>
          <a:xfrm>
            <a:off x="496119" y="920948"/>
            <a:ext cx="8151763" cy="473273"/>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CFD0D8"/>
                </a:solidFill>
                <a:latin typeface="Roboto" pitchFamily="34" charset="0"/>
                <a:ea typeface="Roboto" pitchFamily="34" charset="-122"/>
                <a:cs typeface="Roboto" pitchFamily="34" charset="-120"/>
              </a:rPr>
              <a:t>ADDING €3OK EVERY SINGLE MONTH ON AUTOPILOT FROM FLOWS WHICH THEY'VE COMPLETELY BEEN MISSING PREVIOUSLY. I BET THESE 3OK WOULD BE AN EXTRA 100K IN BLACK FRIDAY. </a:t>
            </a:r>
            <a:endParaRPr lang="en-US" sz="850" dirty="0"/>
          </a:p>
        </p:txBody>
      </p:sp>
      <p:pic>
        <p:nvPicPr>
          <p:cNvPr id="4" name="Image 0" descr="preencoded.png">    </p:cNvPr>
          <p:cNvPicPr>
            <a:picLocks noChangeAspect="1"/>
          </p:cNvPicPr>
          <p:nvPr/>
        </p:nvPicPr>
        <p:blipFill>
          <a:blip r:embed="rId1"/>
          <a:stretch>
            <a:fillRect/>
          </a:stretch>
        </p:blipFill>
        <p:spPr>
          <a:xfrm>
            <a:off x="496119" y="1588889"/>
            <a:ext cx="5131668" cy="2642592"/>
          </a:xfrm>
          <a:prstGeom prst="rect">
            <a:avLst/>
          </a:prstGeom>
        </p:spPr>
      </p:pic>
      <p:sp>
        <p:nvSpPr>
          <p:cNvPr id="5" name="Text 2"/>
          <p:cNvSpPr/>
          <p:nvPr/>
        </p:nvSpPr>
        <p:spPr>
          <a:xfrm>
            <a:off x="7322567" y="1569393"/>
            <a:ext cx="1787203" cy="157758"/>
          </a:xfrm>
          <a:prstGeom prst="rect">
            <a:avLst/>
          </a:prstGeom>
          <a:noFill/>
          <a:ln/>
        </p:spPr>
        <p:txBody>
          <a:bodyPr wrap="none" lIns="0" tIns="0" rIns="0" bIns="0" rtlCol="0" anchor="t"/>
          <a:lstStyle/>
          <a:p>
            <a:pPr algn="l" indent="0" marL="0">
              <a:lnSpc>
                <a:spcPct val="119000"/>
              </a:lnSpc>
              <a:buNone/>
            </a:pPr>
            <a:endParaRPr lang="en-US" sz="850" dirty="0"/>
          </a:p>
        </p:txBody>
      </p:sp>
      <p:sp>
        <p:nvSpPr>
          <p:cNvPr id="6" name="Text 3"/>
          <p:cNvSpPr/>
          <p:nvPr/>
        </p:nvSpPr>
        <p:spPr>
          <a:xfrm>
            <a:off x="496119" y="4426148"/>
            <a:ext cx="8151763"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CFD0D8"/>
                </a:solidFill>
                <a:latin typeface="Roboto" pitchFamily="34" charset="0"/>
                <a:ea typeface="Roboto" pitchFamily="34" charset="-122"/>
                <a:cs typeface="Roboto" pitchFamily="34" charset="-120"/>
              </a:rPr>
              <a:t>OVERALL FLOWS PERFORMANCE</a:t>
            </a:r>
            <a:endParaRPr lang="en-US" sz="850" dirty="0"/>
          </a:p>
          <a:p>
            <a:pPr algn="l" indent="0" marL="0">
              <a:lnSpc>
                <a:spcPct val="119000"/>
              </a:lnSpc>
              <a:buNone/>
            </a:pPr>
            <a:r>
              <a:rPr lang="en-US" sz="850" dirty="0">
                <a:solidFill>
                  <a:srgbClr val="CFD0D8"/>
                </a:solidFill>
                <a:latin typeface="Roboto" pitchFamily="34" charset="0"/>
                <a:ea typeface="Roboto" pitchFamily="34" charset="-122"/>
                <a:cs typeface="Roboto" pitchFamily="34" charset="-120"/>
              </a:rPr>
              <a:t>I LOVE GREENS, I BET YOU LOVE IT TOO</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494904"/>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FF2C2C"/>
                </a:solidFill>
                <a:latin typeface="Roboto Medium" pitchFamily="34" charset="0"/>
                <a:ea typeface="Roboto Medium" pitchFamily="34" charset="-122"/>
                <a:cs typeface="Roboto Medium" pitchFamily="34" charset="-120"/>
              </a:rPr>
              <a:t>WANT A FREE 1-1 AUDIT WITH ME?</a:t>
            </a:r>
            <a:endParaRPr lang="en-US" sz="2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dirty="0">
                <a:solidFill>
                  <a:srgbClr val="FF2C2C"/>
                </a:solidFill>
                <a:latin typeface="Roboto Medium" pitchFamily="34" charset="0"/>
                <a:ea typeface="Roboto Medium" pitchFamily="34" charset="-122"/>
                <a:cs typeface="Roboto Medium" pitchFamily="34" charset="-120"/>
              </a:rPr>
              <a:t>Some more results</a:t>
            </a:r>
            <a:endParaRPr lang="en-US" sz="1350" dirty="0"/>
          </a:p>
        </p:txBody>
      </p:sp>
      <p:pic>
        <p:nvPicPr>
          <p:cNvPr id="3" name="Image 0" descr="preencoded.png">    </p:cNvPr>
          <p:cNvPicPr>
            <a:picLocks noChangeAspect="1"/>
          </p:cNvPicPr>
          <p:nvPr/>
        </p:nvPicPr>
        <p:blipFill>
          <a:blip r:embed="rId1"/>
          <a:stretch>
            <a:fillRect/>
          </a:stretch>
        </p:blipFill>
        <p:spPr>
          <a:xfrm>
            <a:off x="496119" y="704255"/>
            <a:ext cx="3989412" cy="1800820"/>
          </a:xfrm>
          <a:prstGeom prst="rect">
            <a:avLst/>
          </a:prstGeom>
        </p:spPr>
      </p:pic>
      <p:pic>
        <p:nvPicPr>
          <p:cNvPr id="4" name="Image 1" descr="preencoded.png">    </p:cNvPr>
          <p:cNvPicPr>
            <a:picLocks noChangeAspect="1"/>
          </p:cNvPicPr>
          <p:nvPr/>
        </p:nvPicPr>
        <p:blipFill>
          <a:blip r:embed="rId2"/>
          <a:stretch>
            <a:fillRect/>
          </a:stretch>
        </p:blipFill>
        <p:spPr>
          <a:xfrm>
            <a:off x="4663232" y="704255"/>
            <a:ext cx="3989412" cy="1777901"/>
          </a:xfrm>
          <a:prstGeom prst="rect">
            <a:avLst/>
          </a:prstGeom>
        </p:spPr>
      </p:pic>
      <p:pic>
        <p:nvPicPr>
          <p:cNvPr id="5" name="Image 2" descr="preencoded.png">    </p:cNvPr>
          <p:cNvPicPr>
            <a:picLocks noChangeAspect="1"/>
          </p:cNvPicPr>
          <p:nvPr/>
        </p:nvPicPr>
        <p:blipFill>
          <a:blip r:embed="rId3"/>
          <a:stretch>
            <a:fillRect/>
          </a:stretch>
        </p:blipFill>
        <p:spPr>
          <a:xfrm>
            <a:off x="496119" y="2624510"/>
            <a:ext cx="3222129" cy="1940347"/>
          </a:xfrm>
          <a:prstGeom prst="rect">
            <a:avLst/>
          </a:prstGeom>
        </p:spPr>
      </p:pic>
      <p:sp>
        <p:nvSpPr>
          <p:cNvPr id="6" name="Text 1"/>
          <p:cNvSpPr/>
          <p:nvPr/>
        </p:nvSpPr>
        <p:spPr>
          <a:xfrm>
            <a:off x="496119" y="4604668"/>
            <a:ext cx="4446612" cy="85055"/>
          </a:xfrm>
          <a:prstGeom prst="rect">
            <a:avLst/>
          </a:prstGeom>
          <a:noFill/>
          <a:ln/>
        </p:spPr>
        <p:txBody>
          <a:bodyPr wrap="none" lIns="0" tIns="0" rIns="0" bIns="0" rtlCol="0" anchor="t"/>
          <a:lstStyle/>
          <a:p>
            <a:pPr algn="l" indent="0" marL="0">
              <a:lnSpc>
                <a:spcPct val="100000"/>
              </a:lnSpc>
              <a:buNone/>
            </a:pPr>
            <a:endParaRPr lang="en-US" sz="550" dirty="0"/>
          </a:p>
        </p:txBody>
      </p:sp>
      <p:pic>
        <p:nvPicPr>
          <p:cNvPr id="7" name="Image 3" descr="preencoded.png">    </p:cNvPr>
          <p:cNvPicPr>
            <a:picLocks noChangeAspect="1"/>
          </p:cNvPicPr>
          <p:nvPr/>
        </p:nvPicPr>
        <p:blipFill>
          <a:blip r:embed="rId4"/>
          <a:stretch>
            <a:fillRect/>
          </a:stretch>
        </p:blipFill>
        <p:spPr>
          <a:xfrm>
            <a:off x="4663232" y="2624510"/>
            <a:ext cx="1397943" cy="921097"/>
          </a:xfrm>
          <a:prstGeom prst="rect">
            <a:avLst/>
          </a:prstGeom>
        </p:spPr>
      </p:pic>
      <p:pic>
        <p:nvPicPr>
          <p:cNvPr id="8" name="Image 4" descr="preencoded.png">    </p:cNvPr>
          <p:cNvPicPr>
            <a:picLocks noChangeAspect="1"/>
          </p:cNvPicPr>
          <p:nvPr/>
        </p:nvPicPr>
        <p:blipFill>
          <a:blip r:embed="rId5"/>
          <a:stretch>
            <a:fillRect/>
          </a:stretch>
        </p:blipFill>
        <p:spPr>
          <a:xfrm>
            <a:off x="496119" y="4801195"/>
            <a:ext cx="3318197" cy="908149"/>
          </a:xfrm>
          <a:prstGeom prst="rect">
            <a:avLst/>
          </a:prstGeom>
        </p:spPr>
      </p:pic>
      <p:pic>
        <p:nvPicPr>
          <p:cNvPr id="9" name="Image 5" descr="preencoded.png">    </p:cNvPr>
          <p:cNvPicPr>
            <a:picLocks noChangeAspect="1"/>
          </p:cNvPicPr>
          <p:nvPr/>
        </p:nvPicPr>
        <p:blipFill>
          <a:blip r:embed="rId6"/>
          <a:stretch>
            <a:fillRect/>
          </a:stretch>
        </p:blipFill>
        <p:spPr>
          <a:xfrm>
            <a:off x="4663232" y="4801195"/>
            <a:ext cx="1374353" cy="6308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418356"/>
            <a:ext cx="8151763" cy="228451"/>
          </a:xfrm>
          <a:prstGeom prst="rect">
            <a:avLst/>
          </a:prstGeom>
          <a:noFill/>
          <a:ln/>
        </p:spPr>
        <p:txBody>
          <a:bodyPr wrap="none" lIns="0" tIns="0" rIns="0" bIns="0" rtlCol="0" anchor="t"/>
          <a:lstStyle/>
          <a:p>
            <a:pPr algn="l" indent="0" marL="0">
              <a:lnSpc>
                <a:spcPct val="104000"/>
              </a:lnSpc>
              <a:buNone/>
            </a:pPr>
            <a:r>
              <a:rPr lang="en-US" sz="1400" dirty="0">
                <a:solidFill>
                  <a:srgbClr val="FF2C2C"/>
                </a:solidFill>
                <a:latin typeface="Roboto Medium" pitchFamily="34" charset="0"/>
                <a:ea typeface="Roboto Medium" pitchFamily="34" charset="-122"/>
                <a:cs typeface="Roboto Medium" pitchFamily="34" charset="-120"/>
              </a:rPr>
              <a:t>We do it right</a:t>
            </a:r>
            <a:endParaRPr lang="en-US" sz="1400" dirty="0"/>
          </a:p>
        </p:txBody>
      </p:sp>
      <p:pic>
        <p:nvPicPr>
          <p:cNvPr id="3" name="Image 0" descr="preencoded.png">    </p:cNvPr>
          <p:cNvPicPr>
            <a:picLocks noChangeAspect="1"/>
          </p:cNvPicPr>
          <p:nvPr/>
        </p:nvPicPr>
        <p:blipFill>
          <a:blip r:embed="rId1"/>
          <a:stretch>
            <a:fillRect/>
          </a:stretch>
        </p:blipFill>
        <p:spPr>
          <a:xfrm>
            <a:off x="496119" y="745629"/>
            <a:ext cx="3015704" cy="1905074"/>
          </a:xfrm>
          <a:prstGeom prst="rect">
            <a:avLst/>
          </a:prstGeom>
        </p:spPr>
      </p:pic>
      <p:pic>
        <p:nvPicPr>
          <p:cNvPr id="4" name="Image 1" descr="preencoded.png">    </p:cNvPr>
          <p:cNvPicPr>
            <a:picLocks noChangeAspect="1"/>
          </p:cNvPicPr>
          <p:nvPr/>
        </p:nvPicPr>
        <p:blipFill>
          <a:blip r:embed="rId2"/>
          <a:stretch>
            <a:fillRect/>
          </a:stretch>
        </p:blipFill>
        <p:spPr>
          <a:xfrm>
            <a:off x="4665911" y="745629"/>
            <a:ext cx="1400994" cy="1356271"/>
          </a:xfrm>
          <a:prstGeom prst="rect">
            <a:avLst/>
          </a:prstGeom>
        </p:spPr>
      </p:pic>
      <p:pic>
        <p:nvPicPr>
          <p:cNvPr id="5" name="Image 2" descr="preencoded.png">    </p:cNvPr>
          <p:cNvPicPr>
            <a:picLocks noChangeAspect="1"/>
          </p:cNvPicPr>
          <p:nvPr/>
        </p:nvPicPr>
        <p:blipFill>
          <a:blip r:embed="rId3"/>
          <a:stretch>
            <a:fillRect/>
          </a:stretch>
        </p:blipFill>
        <p:spPr>
          <a:xfrm>
            <a:off x="496119" y="2777728"/>
            <a:ext cx="1352327" cy="1869281"/>
          </a:xfrm>
          <a:prstGeom prst="rect">
            <a:avLst/>
          </a:prstGeom>
        </p:spPr>
      </p:pic>
      <p:pic>
        <p:nvPicPr>
          <p:cNvPr id="6" name="Image 3" descr="preencoded.png">    </p:cNvPr>
          <p:cNvPicPr>
            <a:picLocks noChangeAspect="1"/>
          </p:cNvPicPr>
          <p:nvPr/>
        </p:nvPicPr>
        <p:blipFill>
          <a:blip r:embed="rId4"/>
          <a:stretch>
            <a:fillRect/>
          </a:stretch>
        </p:blipFill>
        <p:spPr>
          <a:xfrm>
            <a:off x="4665911" y="2777728"/>
            <a:ext cx="3076798" cy="190507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1273373"/>
            <a:ext cx="8151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FF2C2C"/>
                </a:solidFill>
                <a:latin typeface="Roboto Medium" pitchFamily="34" charset="0"/>
                <a:ea typeface="Roboto Medium" pitchFamily="34" charset="-122"/>
                <a:cs typeface="Roboto Medium" pitchFamily="34" charset="-120"/>
              </a:rPr>
              <a:t>READY TO SAVE $7.5K AND GET ALL THE SAUCE FOR FREE?</a:t>
            </a:r>
            <a:endParaRPr lang="en-US" sz="2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5A6ED8"/>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2026-08-07T17:34:45Z</dcterms:created>
  <dcterms:modified xsi:type="dcterms:W3CDTF">2026-08-07T17:34:45Z</dcterms:modified>
</cp:coreProperties>
</file>