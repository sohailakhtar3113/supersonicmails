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embeddedFontLst>
    <p:embeddedFont>
      <p:font typeface="Montserrat"/>
      <p:regular r:id="rId201314"/>
    </p:embeddedFont>
    <p:embeddedFont>
      <p:font typeface="Montserrat Black"/>
      <p:regular r:id="rId201315"/>
    </p:embeddedFont>
    <p:embeddedFont>
      <p:font typeface="Montserrat Light"/>
      <p:regular r:id="rId201316"/>
    </p:embeddedFont>
    <p:embeddedFont>
      <p:font typeface="Montserrat ExtraBold"/>
      <p:regular r:id="rId201317"/>
    </p:embeddedFont>
    <p:embeddedFont>
      <p:font typeface="Poppins Light"/>
      <p:regular r:id="rId201318"/>
    </p:embeddedFont>
    <p:embeddedFont>
      <p:font typeface="Poppins ExtraBold"/>
      <p:regular r:id="rId201319"/>
    </p:embeddedFont>
    <p:embeddedFont>
      <p:font typeface="Poppins Black"/>
      <p:regular r:id="rId201320"/>
    </p:embeddedFont>
    <p:embeddedFont>
      <p:font typeface="Poppins"/>
      <p:regular r:id="rId2013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solidFill>
          <a:ln/>
        </p:spPr>
      </p:sp>
      <p:sp>
        <p:nvSpPr>
          <p:cNvPr id="3" name="Shape 1"/>
          <p:cNvSpPr/>
          <p:nvPr/>
        </p:nvSpPr>
        <p:spPr>
          <a:xfrm>
            <a:off x="0" y="0"/>
            <a:ext cx="9144000" cy="5143500"/>
          </a:xfrm>
          <a:prstGeom prst="rect">
            <a:avLst/>
          </a:prstGeom>
          <a:solidFill>
            <a:srgbClr val="000000"/>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jpeg"/><Relationship Id="rId4" Type="http://schemas.openxmlformats.org/officeDocument/2006/relationships/image" Target="../media/image-5-4.png"/><Relationship Id="rId5" Type="http://schemas.openxmlformats.org/officeDocument/2006/relationships/image" Target="../media/image-5-5.jpeg"/><Relationship Id="rId6" Type="http://schemas.openxmlformats.org/officeDocument/2006/relationships/image" Target="../media/image-5-6.pn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image" Target="../media/image-7-4.jpe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420216"/>
            <a:ext cx="8151763" cy="830684"/>
          </a:xfrm>
          <a:prstGeom prst="rect">
            <a:avLst/>
          </a:prstGeom>
          <a:noFill/>
          <a:ln/>
        </p:spPr>
        <p:txBody>
          <a:bodyPr wrap="square" lIns="0" tIns="0" rIns="0" bIns="0" rtlCol="0" anchor="t">
            <a:normAutofit/>
          </a:bodyPr>
          <a:lstStyle/>
          <a:p>
            <a:pPr algn="l" indent="0" marL="0">
              <a:lnSpc>
                <a:spcPct val="104000"/>
              </a:lnSpc>
              <a:buNone/>
            </a:pPr>
            <a:r>
              <a:rPr lang="en-US" sz="1700" dirty="0">
                <a:solidFill>
                  <a:srgbClr val="FFFFFF"/>
                </a:solidFill>
                <a:latin typeface="Montserrat ExtraBold" pitchFamily="34" charset="0"/>
                <a:ea typeface="Montserrat ExtraBold" pitchFamily="34" charset="-122"/>
                <a:cs typeface="Montserrat ExtraBold" pitchFamily="34" charset="-120"/>
              </a:rPr>
              <a:t>HOW WE TOOK THIS BRAND’S EMAIL OUT OF SPAM AND INTO THE INBOX IN </a:t>
            </a:r>
            <a:pPr algn="l" indent="0" marL="0">
              <a:lnSpc>
                <a:spcPct val="104000"/>
              </a:lnSpc>
              <a:buNone/>
            </a:pPr>
            <a:r>
              <a:rPr lang="en-US" sz="1700" dirty="0">
                <a:solidFill>
                  <a:srgbClr val="FF2C2C"/>
                </a:solidFill>
                <a:latin typeface="Montserrat ExtraBold" pitchFamily="34" charset="0"/>
                <a:ea typeface="Montserrat ExtraBold" pitchFamily="34" charset="-122"/>
                <a:cs typeface="Montserrat ExtraBold" pitchFamily="34" charset="-120"/>
              </a:rPr>
              <a:t>LESS THAN 30 DAYS FOR HIGHER OPEN RATES AND HIGHER REVENUE</a:t>
            </a:r>
            <a:endParaRPr lang="en-US" sz="1700" dirty="0"/>
          </a:p>
        </p:txBody>
      </p:sp>
      <p:pic>
        <p:nvPicPr>
          <p:cNvPr id="3" name="Image 0" descr="preencoded.png">    </p:cNvPr>
          <p:cNvPicPr>
            <a:picLocks noChangeAspect="1"/>
          </p:cNvPicPr>
          <p:nvPr/>
        </p:nvPicPr>
        <p:blipFill>
          <a:blip r:embed="rId1"/>
          <a:stretch>
            <a:fillRect/>
          </a:stretch>
        </p:blipFill>
        <p:spPr>
          <a:xfrm>
            <a:off x="496119" y="1423913"/>
            <a:ext cx="5131668" cy="2886521"/>
          </a:xfrm>
          <a:prstGeom prst="rect">
            <a:avLst/>
          </a:prstGeom>
        </p:spPr>
      </p:pic>
      <p:sp>
        <p:nvSpPr>
          <p:cNvPr id="4" name="Text 1"/>
          <p:cNvSpPr/>
          <p:nvPr/>
        </p:nvSpPr>
        <p:spPr>
          <a:xfrm>
            <a:off x="496119" y="4407768"/>
            <a:ext cx="8151763" cy="315516"/>
          </a:xfrm>
          <a:prstGeom prst="rect">
            <a:avLst/>
          </a:prstGeom>
          <a:noFill/>
          <a:ln/>
        </p:spPr>
        <p:txBody>
          <a:bodyPr wrap="square" lIns="0" tIns="0" rIns="0" bIns="0" rtlCol="0" anchor="t">
            <a:normAutofit/>
          </a:bodyPr>
          <a:lstStyle/>
          <a:p>
            <a:pPr algn="l" indent="0" marL="0">
              <a:lnSpc>
                <a:spcPct val="119000"/>
              </a:lnSpc>
              <a:buNone/>
            </a:pPr>
            <a:r>
              <a:rPr lang="en-US" sz="850" dirty="0">
                <a:solidFill>
                  <a:srgbClr val="FFFFFF"/>
                </a:solidFill>
                <a:latin typeface="Poppins Light" pitchFamily="34" charset="0"/>
                <a:ea typeface="Poppins Light" pitchFamily="34" charset="-122"/>
                <a:cs typeface="Poppins Light" pitchFamily="34" charset="-120"/>
              </a:rPr>
              <a:t>Note: Before we start, you should know that taking a brand’s email out of spam is the hardest thing to do. It’s not easy. It requires a lot of time and a lot of effort. </a:t>
            </a:r>
            <a:pPr algn="l" indent="0" marL="0">
              <a:lnSpc>
                <a:spcPct val="119000"/>
              </a:lnSpc>
              <a:buNone/>
            </a:pPr>
            <a:r>
              <a:rPr lang="en-US" sz="850" b="1" dirty="0">
                <a:solidFill>
                  <a:srgbClr val="FF2C2C"/>
                </a:solidFill>
                <a:latin typeface="Poppins Bold" pitchFamily="34" charset="0"/>
                <a:ea typeface="Poppins Bold" pitchFamily="34" charset="-122"/>
                <a:cs typeface="Poppins Bold" pitchFamily="34" charset="-120"/>
              </a:rPr>
              <a:t>We literally took this brand’s email out of spam in less than 30 days </a:t>
            </a:r>
            <a:pPr algn="l" indent="0" marL="0">
              <a:lnSpc>
                <a:spcPct val="119000"/>
              </a:lnSpc>
              <a:buNone/>
            </a:pPr>
            <a:r>
              <a:rPr lang="en-US" sz="850" dirty="0">
                <a:solidFill>
                  <a:srgbClr val="FFFFFF"/>
                </a:solidFill>
                <a:latin typeface="Poppins Light" pitchFamily="34" charset="0"/>
                <a:ea typeface="Poppins Light" pitchFamily="34" charset="-122"/>
                <a:cs typeface="Poppins Light" pitchFamily="34" charset="-120"/>
              </a:rPr>
              <a:t>(You can see the Google postmaster report here)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783333"/>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FF2C2C"/>
                </a:solidFill>
                <a:latin typeface="Montserrat ExtraBold" pitchFamily="34" charset="0"/>
                <a:ea typeface="Montserrat ExtraBold" pitchFamily="34" charset="-122"/>
                <a:cs typeface="Montserrat ExtraBold" pitchFamily="34" charset="-120"/>
              </a:rPr>
              <a:t>CASE BACKGROUND</a:t>
            </a:r>
            <a:endParaRPr lang="en-US" sz="2750" dirty="0"/>
          </a:p>
        </p:txBody>
      </p:sp>
      <p:sp>
        <p:nvSpPr>
          <p:cNvPr id="3" name="Text 1"/>
          <p:cNvSpPr/>
          <p:nvPr/>
        </p:nvSpPr>
        <p:spPr>
          <a:xfrm>
            <a:off x="496119" y="2509838"/>
            <a:ext cx="8151763" cy="850329"/>
          </a:xfrm>
          <a:prstGeom prst="rect">
            <a:avLst/>
          </a:prstGeom>
          <a:noFill/>
          <a:ln/>
        </p:spPr>
        <p:txBody>
          <a:bodyPr wrap="square" lIns="0" tIns="0" rIns="0" bIns="0" rtlCol="0" anchor="t">
            <a:normAutofit/>
          </a:bodyPr>
          <a:lstStyle/>
          <a:p>
            <a:pPr algn="l" marL="223520" indent="-223520">
              <a:lnSpc>
                <a:spcPct val="133000"/>
              </a:lnSpc>
              <a:buSzPct val="100000"/>
              <a:buChar char="•"/>
            </a:pPr>
            <a:r>
              <a:rPr lang="en-US" sz="1100" dirty="0">
                <a:solidFill>
                  <a:srgbClr val="FFFFFF"/>
                </a:solidFill>
                <a:latin typeface="Poppins Light" pitchFamily="34" charset="0"/>
                <a:ea typeface="Poppins Light" pitchFamily="34" charset="-122"/>
                <a:cs typeface="Poppins Light" pitchFamily="34" charset="-120"/>
              </a:rPr>
              <a:t>We met with this brand in late November. But we actually started working with them in early October. If you see the timeline we started working on spam issues from 4th october. It’s 31 october, the day we got out of spam and we saw 78% open rate.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10096"/>
            <a:ext cx="8151763" cy="373782"/>
          </a:xfrm>
          <a:prstGeom prst="rect">
            <a:avLst/>
          </a:prstGeom>
          <a:noFill/>
          <a:ln/>
        </p:spPr>
        <p:txBody>
          <a:bodyPr wrap="none" lIns="0" tIns="0" rIns="0" bIns="0" rtlCol="0" anchor="t"/>
          <a:lstStyle/>
          <a:p>
            <a:pPr algn="l" indent="0" marL="0">
              <a:lnSpc>
                <a:spcPct val="104000"/>
              </a:lnSpc>
              <a:buNone/>
            </a:pPr>
            <a:r>
              <a:rPr lang="en-US" sz="2350" dirty="0">
                <a:solidFill>
                  <a:srgbClr val="FF2C2C"/>
                </a:solidFill>
                <a:latin typeface="Montserrat ExtraBold" pitchFamily="34" charset="0"/>
                <a:ea typeface="Montserrat ExtraBold" pitchFamily="34" charset="-122"/>
                <a:cs typeface="Montserrat ExtraBold" pitchFamily="34" charset="-120"/>
              </a:rPr>
              <a:t>Here’s the exact thing we did from start to finish</a:t>
            </a:r>
            <a:endParaRPr lang="en-US" sz="2350" dirty="0"/>
          </a:p>
        </p:txBody>
      </p:sp>
      <p:sp>
        <p:nvSpPr>
          <p:cNvPr id="3" name="Text 1"/>
          <p:cNvSpPr/>
          <p:nvPr/>
        </p:nvSpPr>
        <p:spPr>
          <a:xfrm>
            <a:off x="496119" y="985689"/>
            <a:ext cx="8151763" cy="3747715"/>
          </a:xfrm>
          <a:prstGeom prst="rect">
            <a:avLst/>
          </a:prstGeom>
          <a:noFill/>
          <a:ln/>
        </p:spPr>
        <p:txBody>
          <a:bodyPr wrap="square" lIns="0" tIns="0" rIns="0" bIns="0" rtlCol="0" anchor="t">
            <a:normAutofit/>
          </a:bodyPr>
          <a:lstStyle/>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DNS records were already setup, so no issues there</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We tested where our emails are landing with the help of Glockapps(hell lotta workkkk)</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we noticed a 80% of this brand emails were landing into spam, we also noticed a spike in spam complaint rate</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The next we do is turned off all the non essentials flows, we keep welcome, abandoned carts, checkouts, thankyou email</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Made the first welcome email fully text based</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We made the following segment ( if someone can or cannot receive email marketing, can receive email because person subscribed) and started by sending to 10 days engaged segment)FREE MONEY COZ NO ADS SPENDS, NOTHING HAHA</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Before sending the campaign we also analysed which ISP are getting low open rates</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we noticed yahoo, some gmails and aol were causing all the issues.</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The next step we did was we remove the yahoos and aol from the 10 days engaged segment and made the segment more tighter for yahoo and aol ( separately )</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10 days engaged for gmail and 7 days engaged for yahoo and aol</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Here's the imp part: we started sending plain text emails (pure value, educational) without expecting rev</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we started sending 2 campaigns a week fully plain text</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When we started seeing 40%+ open rate, we moved the 15 days engaged for gmail and 8 days for yahoo and aol</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we again saw 45%+ open rate, we moved 30 days for gmail and 15 for yahoo and aol.</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Now even with the graphic emails campaigns are getting around 50% + open rate, placed order has been increased.</a:t>
            </a:r>
            <a:endParaRPr lang="en-US" sz="900" dirty="0"/>
          </a:p>
          <a:p>
            <a:pPr algn="l" marL="182880" indent="-182880">
              <a:lnSpc>
                <a:spcPct val="123000"/>
              </a:lnSpc>
              <a:buSzPct val="100000"/>
              <a:buChar char="•"/>
            </a:pPr>
            <a:r>
              <a:rPr lang="en-US" sz="900" dirty="0">
                <a:solidFill>
                  <a:srgbClr val="FFFFFF"/>
                </a:solidFill>
                <a:latin typeface="Poppins Light" pitchFamily="34" charset="0"/>
                <a:ea typeface="Poppins Light" pitchFamily="34" charset="-122"/>
                <a:cs typeface="Poppins Light" pitchFamily="34" charset="-120"/>
              </a:rPr>
              <a:t>Welcome email open rates went from 33% to 59% so does the placed order rate even with the graphic emails.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18877"/>
            <a:ext cx="8151763" cy="761405"/>
          </a:xfrm>
          <a:prstGeom prst="rect">
            <a:avLst/>
          </a:prstGeom>
          <a:noFill/>
          <a:ln/>
        </p:spPr>
        <p:txBody>
          <a:bodyPr wrap="square" lIns="0" tIns="0" rIns="0" bIns="0" rtlCol="0" anchor="t">
            <a:normAutofit/>
          </a:bodyPr>
          <a:lstStyle/>
          <a:p>
            <a:pPr algn="l" indent="0" marL="0">
              <a:lnSpc>
                <a:spcPct val="104000"/>
              </a:lnSpc>
              <a:buNone/>
            </a:pPr>
            <a:r>
              <a:rPr lang="en-US" sz="2350" dirty="0">
                <a:solidFill>
                  <a:srgbClr val="FF2C2C"/>
                </a:solidFill>
                <a:latin typeface="Montserrat ExtraBold" pitchFamily="34" charset="0"/>
                <a:ea typeface="Montserrat ExtraBold" pitchFamily="34" charset="-122"/>
                <a:cs typeface="Montserrat ExtraBold" pitchFamily="34" charset="-120"/>
              </a:rPr>
              <a:t>We did all of these but the main happiness was hearing this from Our client:</a:t>
            </a:r>
            <a:endParaRPr lang="en-US" sz="2350" dirty="0"/>
          </a:p>
        </p:txBody>
      </p:sp>
      <p:pic>
        <p:nvPicPr>
          <p:cNvPr id="3" name="Image 0" descr="preencoded.png">    </p:cNvPr>
          <p:cNvPicPr>
            <a:picLocks noChangeAspect="1"/>
          </p:cNvPicPr>
          <p:nvPr/>
        </p:nvPicPr>
        <p:blipFill>
          <a:blip r:embed="rId1"/>
          <a:stretch>
            <a:fillRect/>
          </a:stretch>
        </p:blipFill>
        <p:spPr>
          <a:xfrm>
            <a:off x="496119" y="1389608"/>
            <a:ext cx="2412727" cy="33350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389855"/>
            <a:ext cx="8151763" cy="221456"/>
          </a:xfrm>
          <a:prstGeom prst="rect">
            <a:avLst/>
          </a:prstGeom>
          <a:noFill/>
          <a:ln/>
        </p:spPr>
        <p:txBody>
          <a:bodyPr wrap="none" lIns="0" tIns="0" rIns="0" bIns="0" rtlCol="0" anchor="t"/>
          <a:lstStyle/>
          <a:p>
            <a:pPr algn="l" indent="0" marL="0">
              <a:lnSpc>
                <a:spcPct val="104000"/>
              </a:lnSpc>
              <a:buNone/>
            </a:pPr>
            <a:r>
              <a:rPr lang="en-US" sz="1350" dirty="0">
                <a:solidFill>
                  <a:srgbClr val="FF2C2C"/>
                </a:solidFill>
                <a:latin typeface="Montserrat ExtraBold" pitchFamily="34" charset="0"/>
                <a:ea typeface="Montserrat ExtraBold" pitchFamily="34" charset="-122"/>
                <a:cs typeface="Montserrat ExtraBold" pitchFamily="34" charset="-120"/>
              </a:rPr>
              <a:t>SOME MORE RESULTS</a:t>
            </a:r>
            <a:endParaRPr lang="en-US" sz="1350" dirty="0"/>
          </a:p>
        </p:txBody>
      </p:sp>
      <p:pic>
        <p:nvPicPr>
          <p:cNvPr id="3" name="Image 0" descr="preencoded.png">    </p:cNvPr>
          <p:cNvPicPr>
            <a:picLocks noChangeAspect="1"/>
          </p:cNvPicPr>
          <p:nvPr/>
        </p:nvPicPr>
        <p:blipFill>
          <a:blip r:embed="rId1"/>
          <a:stretch>
            <a:fillRect/>
          </a:stretch>
        </p:blipFill>
        <p:spPr>
          <a:xfrm>
            <a:off x="496119" y="704255"/>
            <a:ext cx="3989412" cy="1800820"/>
          </a:xfrm>
          <a:prstGeom prst="rect">
            <a:avLst/>
          </a:prstGeom>
        </p:spPr>
      </p:pic>
      <p:pic>
        <p:nvPicPr>
          <p:cNvPr id="4" name="Image 1" descr="preencoded.png">    </p:cNvPr>
          <p:cNvPicPr>
            <a:picLocks noChangeAspect="1"/>
          </p:cNvPicPr>
          <p:nvPr/>
        </p:nvPicPr>
        <p:blipFill>
          <a:blip r:embed="rId2"/>
          <a:stretch>
            <a:fillRect/>
          </a:stretch>
        </p:blipFill>
        <p:spPr>
          <a:xfrm>
            <a:off x="4663232" y="704255"/>
            <a:ext cx="3989412" cy="1777901"/>
          </a:xfrm>
          <a:prstGeom prst="rect">
            <a:avLst/>
          </a:prstGeom>
        </p:spPr>
      </p:pic>
      <p:pic>
        <p:nvPicPr>
          <p:cNvPr id="5" name="Image 2" descr="preencoded.png">    </p:cNvPr>
          <p:cNvPicPr>
            <a:picLocks noChangeAspect="1"/>
          </p:cNvPicPr>
          <p:nvPr/>
        </p:nvPicPr>
        <p:blipFill>
          <a:blip r:embed="rId3"/>
          <a:stretch>
            <a:fillRect/>
          </a:stretch>
        </p:blipFill>
        <p:spPr>
          <a:xfrm>
            <a:off x="496119" y="2624510"/>
            <a:ext cx="3222129" cy="1940347"/>
          </a:xfrm>
          <a:prstGeom prst="rect">
            <a:avLst/>
          </a:prstGeom>
        </p:spPr>
      </p:pic>
      <p:pic>
        <p:nvPicPr>
          <p:cNvPr id="6" name="Image 3" descr="preencoded.png">    </p:cNvPr>
          <p:cNvPicPr>
            <a:picLocks noChangeAspect="1"/>
          </p:cNvPicPr>
          <p:nvPr/>
        </p:nvPicPr>
        <p:blipFill>
          <a:blip r:embed="rId4"/>
          <a:stretch>
            <a:fillRect/>
          </a:stretch>
        </p:blipFill>
        <p:spPr>
          <a:xfrm>
            <a:off x="4663232" y="2624510"/>
            <a:ext cx="1397943" cy="921097"/>
          </a:xfrm>
          <a:prstGeom prst="rect">
            <a:avLst/>
          </a:prstGeom>
        </p:spPr>
      </p:pic>
      <p:pic>
        <p:nvPicPr>
          <p:cNvPr id="7" name="Image 4" descr="preencoded.png">    </p:cNvPr>
          <p:cNvPicPr>
            <a:picLocks noChangeAspect="1"/>
          </p:cNvPicPr>
          <p:nvPr/>
        </p:nvPicPr>
        <p:blipFill>
          <a:blip r:embed="rId5"/>
          <a:stretch>
            <a:fillRect/>
          </a:stretch>
        </p:blipFill>
        <p:spPr>
          <a:xfrm>
            <a:off x="496119" y="4684291"/>
            <a:ext cx="3318197" cy="908149"/>
          </a:xfrm>
          <a:prstGeom prst="rect">
            <a:avLst/>
          </a:prstGeom>
        </p:spPr>
      </p:pic>
      <p:pic>
        <p:nvPicPr>
          <p:cNvPr id="8" name="Image 5" descr="preencoded.png">    </p:cNvPr>
          <p:cNvPicPr>
            <a:picLocks noChangeAspect="1"/>
          </p:cNvPicPr>
          <p:nvPr/>
        </p:nvPicPr>
        <p:blipFill>
          <a:blip r:embed="rId6"/>
          <a:stretch>
            <a:fillRect/>
          </a:stretch>
        </p:blipFill>
        <p:spPr>
          <a:xfrm>
            <a:off x="4663232" y="4684291"/>
            <a:ext cx="1374353" cy="6308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1499667"/>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FF2C2C"/>
                </a:solidFill>
                <a:latin typeface="Montserrat ExtraBold" pitchFamily="34" charset="0"/>
                <a:ea typeface="Montserrat ExtraBold" pitchFamily="34" charset="-122"/>
                <a:cs typeface="Montserrat ExtraBold" pitchFamily="34" charset="-120"/>
              </a:rPr>
              <a:t>WANT A FREE 1-1 AUDIT WITH ME?</a:t>
            </a:r>
            <a:endParaRPr lang="en-US" sz="2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418356"/>
            <a:ext cx="8151763" cy="228451"/>
          </a:xfrm>
          <a:prstGeom prst="rect">
            <a:avLst/>
          </a:prstGeom>
          <a:noFill/>
          <a:ln/>
        </p:spPr>
        <p:txBody>
          <a:bodyPr wrap="none" lIns="0" tIns="0" rIns="0" bIns="0" rtlCol="0" anchor="t"/>
          <a:lstStyle/>
          <a:p>
            <a:pPr algn="l" indent="0" marL="0">
              <a:lnSpc>
                <a:spcPct val="104000"/>
              </a:lnSpc>
              <a:buNone/>
            </a:pPr>
            <a:r>
              <a:rPr lang="en-US" sz="1400" dirty="0">
                <a:solidFill>
                  <a:srgbClr val="FF2C2C"/>
                </a:solidFill>
                <a:latin typeface="Montserrat ExtraBold" pitchFamily="34" charset="0"/>
                <a:ea typeface="Montserrat ExtraBold" pitchFamily="34" charset="-122"/>
                <a:cs typeface="Montserrat ExtraBold" pitchFamily="34" charset="-120"/>
              </a:rPr>
              <a:t>We do it right</a:t>
            </a:r>
            <a:endParaRPr lang="en-US" sz="1400" dirty="0"/>
          </a:p>
        </p:txBody>
      </p:sp>
      <p:pic>
        <p:nvPicPr>
          <p:cNvPr id="3" name="Image 0" descr="preencoded.png">    </p:cNvPr>
          <p:cNvPicPr>
            <a:picLocks noChangeAspect="1"/>
          </p:cNvPicPr>
          <p:nvPr/>
        </p:nvPicPr>
        <p:blipFill>
          <a:blip r:embed="rId1"/>
          <a:stretch>
            <a:fillRect/>
          </a:stretch>
        </p:blipFill>
        <p:spPr>
          <a:xfrm>
            <a:off x="496119" y="745629"/>
            <a:ext cx="3015704" cy="1905074"/>
          </a:xfrm>
          <a:prstGeom prst="rect">
            <a:avLst/>
          </a:prstGeom>
        </p:spPr>
      </p:pic>
      <p:pic>
        <p:nvPicPr>
          <p:cNvPr id="4" name="Image 1" descr="preencoded.png">    </p:cNvPr>
          <p:cNvPicPr>
            <a:picLocks noChangeAspect="1"/>
          </p:cNvPicPr>
          <p:nvPr/>
        </p:nvPicPr>
        <p:blipFill>
          <a:blip r:embed="rId2"/>
          <a:stretch>
            <a:fillRect/>
          </a:stretch>
        </p:blipFill>
        <p:spPr>
          <a:xfrm>
            <a:off x="4665911" y="745629"/>
            <a:ext cx="1400994" cy="1356271"/>
          </a:xfrm>
          <a:prstGeom prst="rect">
            <a:avLst/>
          </a:prstGeom>
        </p:spPr>
      </p:pic>
      <p:pic>
        <p:nvPicPr>
          <p:cNvPr id="5" name="Image 2" descr="preencoded.png">    </p:cNvPr>
          <p:cNvPicPr>
            <a:picLocks noChangeAspect="1"/>
          </p:cNvPicPr>
          <p:nvPr/>
        </p:nvPicPr>
        <p:blipFill>
          <a:blip r:embed="rId3"/>
          <a:stretch>
            <a:fillRect/>
          </a:stretch>
        </p:blipFill>
        <p:spPr>
          <a:xfrm>
            <a:off x="496119" y="2777728"/>
            <a:ext cx="1352327" cy="1869281"/>
          </a:xfrm>
          <a:prstGeom prst="rect">
            <a:avLst/>
          </a:prstGeom>
        </p:spPr>
      </p:pic>
      <p:pic>
        <p:nvPicPr>
          <p:cNvPr id="6" name="Image 3" descr="preencoded.png">    </p:cNvPr>
          <p:cNvPicPr>
            <a:picLocks noChangeAspect="1"/>
          </p:cNvPicPr>
          <p:nvPr/>
        </p:nvPicPr>
        <p:blipFill>
          <a:blip r:embed="rId4"/>
          <a:stretch>
            <a:fillRect/>
          </a:stretch>
        </p:blipFill>
        <p:spPr>
          <a:xfrm>
            <a:off x="4665911" y="2777728"/>
            <a:ext cx="3076798" cy="19050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278136"/>
            <a:ext cx="8151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FF2C2C"/>
                </a:solidFill>
                <a:latin typeface="Montserrat ExtraBold" pitchFamily="34" charset="0"/>
                <a:ea typeface="Montserrat ExtraBold" pitchFamily="34" charset="-122"/>
                <a:cs typeface="Montserrat ExtraBold" pitchFamily="34" charset="-120"/>
              </a:rPr>
              <a:t>READY TO SAVE $7.5K AND GET ALL THE SAUCE FOR FREE?</a:t>
            </a:r>
            <a:endParaRPr lang="en-US" sz="2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2026-08-07T17:35:53Z</dcterms:created>
  <dcterms:modified xsi:type="dcterms:W3CDTF">2026-08-07T17:35:53Z</dcterms:modified>
</cp:coreProperties>
</file>